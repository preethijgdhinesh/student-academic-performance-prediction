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7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hi Janakiraman" userId="5dfb86907f2900bd" providerId="LiveId" clId="{55964233-47B5-4E21-918D-CBD82CE7D5A7}"/>
    <pc:docChg chg="undo custSel addSld delSld modSld sldOrd">
      <pc:chgData name="Preethi Janakiraman" userId="5dfb86907f2900bd" providerId="LiveId" clId="{55964233-47B5-4E21-918D-CBD82CE7D5A7}" dt="2026-08-24T00:00:15.728" v="871" actId="20577"/>
      <pc:docMkLst>
        <pc:docMk/>
      </pc:docMkLst>
      <pc:sldChg chg="addSp delSp modSp mod">
        <pc:chgData name="Preethi Janakiraman" userId="5dfb86907f2900bd" providerId="LiveId" clId="{55964233-47B5-4E21-918D-CBD82CE7D5A7}" dt="2026-08-23T23:33:33.487" v="284" actId="255"/>
        <pc:sldMkLst>
          <pc:docMk/>
          <pc:sldMk cId="0" sldId="256"/>
        </pc:sldMkLst>
        <pc:spChg chg="mod">
          <ac:chgData name="Preethi Janakiraman" userId="5dfb86907f2900bd" providerId="LiveId" clId="{55964233-47B5-4E21-918D-CBD82CE7D5A7}" dt="2026-08-23T23:33:33.487" v="284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26:07" v="57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28:50.973" v="24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30:18.715" v="270" actId="20577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Preethi Janakiraman" userId="5dfb86907f2900bd" providerId="LiveId" clId="{55964233-47B5-4E21-918D-CBD82CE7D5A7}" dt="2026-08-23T23:30:20.701" v="272"/>
          <ac:spMkLst>
            <pc:docMk/>
            <pc:sldMk cId="0" sldId="256"/>
            <ac:spMk id="9" creationId="{CF68B2BD-65FD-84B2-A9CD-948BAA80C10F}"/>
          </ac:spMkLst>
        </pc:spChg>
        <pc:picChg chg="add del mod">
          <ac:chgData name="Preethi Janakiraman" userId="5dfb86907f2900bd" providerId="LiveId" clId="{55964233-47B5-4E21-918D-CBD82CE7D5A7}" dt="2026-08-23T23:32:11.284" v="279" actId="478"/>
          <ac:picMkLst>
            <pc:docMk/>
            <pc:sldMk cId="0" sldId="256"/>
            <ac:picMk id="11" creationId="{4B8CF0F6-2198-293B-E83F-84A7F4B7570E}"/>
          </ac:picMkLst>
        </pc:picChg>
        <pc:picChg chg="add mod">
          <ac:chgData name="Preethi Janakiraman" userId="5dfb86907f2900bd" providerId="LiveId" clId="{55964233-47B5-4E21-918D-CBD82CE7D5A7}" dt="2026-08-23T23:33:10.393" v="283" actId="1076"/>
          <ac:picMkLst>
            <pc:docMk/>
            <pc:sldMk cId="0" sldId="256"/>
            <ac:picMk id="13" creationId="{4758C2DE-BBD3-37AB-28D5-A9B59929C472}"/>
          </ac:picMkLst>
        </pc:picChg>
      </pc:sldChg>
      <pc:sldChg chg="del">
        <pc:chgData name="Preethi Janakiraman" userId="5dfb86907f2900bd" providerId="LiveId" clId="{55964233-47B5-4E21-918D-CBD82CE7D5A7}" dt="2026-08-23T23:57:13.215" v="844" actId="47"/>
        <pc:sldMkLst>
          <pc:docMk/>
          <pc:sldMk cId="0" sldId="257"/>
        </pc:sldMkLst>
      </pc:sldChg>
      <pc:sldChg chg="addSp delSp modSp mod ord">
        <pc:chgData name="Preethi Janakiraman" userId="5dfb86907f2900bd" providerId="LiveId" clId="{55964233-47B5-4E21-918D-CBD82CE7D5A7}" dt="2026-08-23T23:57:06.854" v="843" actId="1076"/>
        <pc:sldMkLst>
          <pc:docMk/>
          <pc:sldMk cId="0" sldId="258"/>
        </pc:sldMkLst>
        <pc:spChg chg="del mod">
          <ac:chgData name="Preethi Janakiraman" userId="5dfb86907f2900bd" providerId="LiveId" clId="{55964233-47B5-4E21-918D-CBD82CE7D5A7}" dt="2026-08-23T23:56:22.729" v="837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Preethi Janakiraman" userId="5dfb86907f2900bd" providerId="LiveId" clId="{55964233-47B5-4E21-918D-CBD82CE7D5A7}" dt="2026-08-23T23:56:26.666" v="838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Preethi Janakiraman" userId="5dfb86907f2900bd" providerId="LiveId" clId="{55964233-47B5-4E21-918D-CBD82CE7D5A7}" dt="2026-08-23T23:39:02.102" v="366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Preethi Janakiraman" userId="5dfb86907f2900bd" providerId="LiveId" clId="{55964233-47B5-4E21-918D-CBD82CE7D5A7}" dt="2026-08-23T23:56:15.972" v="836" actId="478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Preethi Janakiraman" userId="5dfb86907f2900bd" providerId="LiveId" clId="{55964233-47B5-4E21-918D-CBD82CE7D5A7}" dt="2026-08-23T23:57:06.854" v="843" actId="1076"/>
          <ac:spMkLst>
            <pc:docMk/>
            <pc:sldMk cId="0" sldId="258"/>
            <ac:spMk id="12" creationId="{632AE23E-29CE-51CE-41AE-C35D6FD6C007}"/>
          </ac:spMkLst>
        </pc:spChg>
        <pc:spChg chg="add mod">
          <ac:chgData name="Preethi Janakiraman" userId="5dfb86907f2900bd" providerId="LiveId" clId="{55964233-47B5-4E21-918D-CBD82CE7D5A7}" dt="2026-08-23T23:57:06.854" v="843" actId="1076"/>
          <ac:spMkLst>
            <pc:docMk/>
            <pc:sldMk cId="0" sldId="258"/>
            <ac:spMk id="14" creationId="{D160E5E6-96D8-56AD-1F32-C7C2DBC0F4B3}"/>
          </ac:spMkLst>
        </pc:spChg>
        <pc:spChg chg="add mod">
          <ac:chgData name="Preethi Janakiraman" userId="5dfb86907f2900bd" providerId="LiveId" clId="{55964233-47B5-4E21-918D-CBD82CE7D5A7}" dt="2026-08-23T23:57:06.854" v="843" actId="1076"/>
          <ac:spMkLst>
            <pc:docMk/>
            <pc:sldMk cId="0" sldId="258"/>
            <ac:spMk id="16" creationId="{899E9282-3A44-0F5B-D785-D73D94C24DF5}"/>
          </ac:spMkLst>
        </pc:spChg>
      </pc:sldChg>
      <pc:sldChg chg="addSp delSp modSp mod ord">
        <pc:chgData name="Preethi Janakiraman" userId="5dfb86907f2900bd" providerId="LiveId" clId="{55964233-47B5-4E21-918D-CBD82CE7D5A7}" dt="2026-08-23T23:55:55.199" v="835" actId="1076"/>
        <pc:sldMkLst>
          <pc:docMk/>
          <pc:sldMk cId="0" sldId="259"/>
        </pc:sldMkLst>
        <pc:spChg chg="mod">
          <ac:chgData name="Preethi Janakiraman" userId="5dfb86907f2900bd" providerId="LiveId" clId="{55964233-47B5-4E21-918D-CBD82CE7D5A7}" dt="2026-08-23T23:44:11.952" v="660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50:05.540" v="763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50:41.983" v="769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Preethi Janakiraman" userId="5dfb86907f2900bd" providerId="LiveId" clId="{55964233-47B5-4E21-918D-CBD82CE7D5A7}" dt="2026-08-23T23:46:32.435" v="735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Preethi Janakiraman" userId="5dfb86907f2900bd" providerId="LiveId" clId="{55964233-47B5-4E21-918D-CBD82CE7D5A7}" dt="2026-08-23T23:46:36.454" v="736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Preethi Janakiraman" userId="5dfb86907f2900bd" providerId="LiveId" clId="{55964233-47B5-4E21-918D-CBD82CE7D5A7}" dt="2026-08-23T23:46:39.514" v="737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Preethi Janakiraman" userId="5dfb86907f2900bd" providerId="LiveId" clId="{55964233-47B5-4E21-918D-CBD82CE7D5A7}" dt="2026-08-23T23:49:07.565" v="755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Preethi Janakiraman" userId="5dfb86907f2900bd" providerId="LiveId" clId="{55964233-47B5-4E21-918D-CBD82CE7D5A7}" dt="2026-08-23T23:49:13.686" v="756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reethi Janakiraman" userId="5dfb86907f2900bd" providerId="LiveId" clId="{55964233-47B5-4E21-918D-CBD82CE7D5A7}" dt="2026-08-23T23:55:03.177" v="827" actId="6549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Preethi Janakiraman" userId="5dfb86907f2900bd" providerId="LiveId" clId="{55964233-47B5-4E21-918D-CBD82CE7D5A7}" dt="2026-08-23T23:55:55.199" v="835" actId="1076"/>
          <ac:spMkLst>
            <pc:docMk/>
            <pc:sldMk cId="0" sldId="259"/>
            <ac:spMk id="16" creationId="{2A8AC5AB-F449-262B-3364-95B8E7DDCDD5}"/>
          </ac:spMkLst>
        </pc:spChg>
        <pc:spChg chg="add mod">
          <ac:chgData name="Preethi Janakiraman" userId="5dfb86907f2900bd" providerId="LiveId" clId="{55964233-47B5-4E21-918D-CBD82CE7D5A7}" dt="2026-08-23T23:55:49.455" v="834" actId="1076"/>
          <ac:spMkLst>
            <pc:docMk/>
            <pc:sldMk cId="0" sldId="259"/>
            <ac:spMk id="18" creationId="{AD7AEE98-F358-A6EB-1209-5225648159AB}"/>
          </ac:spMkLst>
        </pc:spChg>
        <pc:spChg chg="add del mod">
          <ac:chgData name="Preethi Janakiraman" userId="5dfb86907f2900bd" providerId="LiveId" clId="{55964233-47B5-4E21-918D-CBD82CE7D5A7}" dt="2026-08-23T23:54:20.846" v="824" actId="478"/>
          <ac:spMkLst>
            <pc:docMk/>
            <pc:sldMk cId="0" sldId="259"/>
            <ac:spMk id="20" creationId="{8D043A8A-B02A-F735-F387-94E1442F263F}"/>
          </ac:spMkLst>
        </pc:spChg>
        <pc:picChg chg="mod">
          <ac:chgData name="Preethi Janakiraman" userId="5dfb86907f2900bd" providerId="LiveId" clId="{55964233-47B5-4E21-918D-CBD82CE7D5A7}" dt="2026-08-23T23:49:54.298" v="762" actId="1076"/>
          <ac:picMkLst>
            <pc:docMk/>
            <pc:sldMk cId="0" sldId="259"/>
            <ac:picMk id="6" creationId="{00000000-0000-0000-0000-000000000000}"/>
          </ac:picMkLst>
        </pc:picChg>
      </pc:sldChg>
      <pc:sldChg chg="modSp mod">
        <pc:chgData name="Preethi Janakiraman" userId="5dfb86907f2900bd" providerId="LiveId" clId="{55964233-47B5-4E21-918D-CBD82CE7D5A7}" dt="2026-08-24T00:00:15.728" v="871" actId="20577"/>
        <pc:sldMkLst>
          <pc:docMk/>
          <pc:sldMk cId="0" sldId="260"/>
        </pc:sldMkLst>
        <pc:spChg chg="mod">
          <ac:chgData name="Preethi Janakiraman" userId="5dfb86907f2900bd" providerId="LiveId" clId="{55964233-47B5-4E21-918D-CBD82CE7D5A7}" dt="2026-08-24T00:00:15.728" v="871" actId="20577"/>
          <ac:spMkLst>
            <pc:docMk/>
            <pc:sldMk cId="0" sldId="260"/>
            <ac:spMk id="6" creationId="{00000000-0000-0000-0000-000000000000}"/>
          </ac:spMkLst>
        </pc:spChg>
      </pc:sldChg>
      <pc:sldChg chg="addSp delSp add del mod">
        <pc:chgData name="Preethi Janakiraman" userId="5dfb86907f2900bd" providerId="LiveId" clId="{55964233-47B5-4E21-918D-CBD82CE7D5A7}" dt="2026-08-23T23:57:59.750" v="845" actId="47"/>
        <pc:sldMkLst>
          <pc:docMk/>
          <pc:sldMk cId="63718949" sldId="275"/>
        </pc:sldMkLst>
        <pc:spChg chg="del">
          <ac:chgData name="Preethi Janakiraman" userId="5dfb86907f2900bd" providerId="LiveId" clId="{55964233-47B5-4E21-918D-CBD82CE7D5A7}" dt="2026-08-23T23:56:51.260" v="841" actId="21"/>
          <ac:spMkLst>
            <pc:docMk/>
            <pc:sldMk cId="63718949" sldId="275"/>
            <ac:spMk id="11" creationId="{7B1F710B-0B5E-8264-68BB-B2984289B661}"/>
          </ac:spMkLst>
        </pc:spChg>
        <pc:spChg chg="add del">
          <ac:chgData name="Preethi Janakiraman" userId="5dfb86907f2900bd" providerId="LiveId" clId="{55964233-47B5-4E21-918D-CBD82CE7D5A7}" dt="2026-08-23T23:56:51.260" v="841" actId="21"/>
          <ac:spMkLst>
            <pc:docMk/>
            <pc:sldMk cId="63718949" sldId="275"/>
            <ac:spMk id="12" creationId="{E650922E-6260-F7D3-2C5E-EDB4FEB7F5CE}"/>
          </ac:spMkLst>
        </pc:spChg>
        <pc:spChg chg="add del">
          <ac:chgData name="Preethi Janakiraman" userId="5dfb86907f2900bd" providerId="LiveId" clId="{55964233-47B5-4E21-918D-CBD82CE7D5A7}" dt="2026-08-23T23:56:51.260" v="841" actId="21"/>
          <ac:spMkLst>
            <pc:docMk/>
            <pc:sldMk cId="63718949" sldId="275"/>
            <ac:spMk id="13" creationId="{855BE2CF-522F-FB88-C160-FE7C17D600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19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9BF0-19D4-0239-5DF8-863E9829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DA087-7F34-1ECF-71F4-ADCEB90C6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D83E5-CBA2-1089-2C3A-E152D029C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5AF9F-E8AB-B59D-B52D-B6FD2915A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35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63482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6348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897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DEFENCE· MSc in Data Analytics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400" b="1" dirty="0">
                <a:solidFill>
                  <a:srgbClr val="FFFFFF"/>
                </a:solidFill>
                <a:latin typeface="Britannic Bold" panose="020B0903060703020204" pitchFamily="34" charset="0"/>
                <a:ea typeface="Cambria" pitchFamily="34" charset="-122"/>
              </a:rPr>
              <a:t>Student academic performance prediction with feature importance and visual analytics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machine learning models | Feature Importance Analysis| Dashboard Analytics</a:t>
            </a:r>
            <a:endParaRPr lang="en-US" sz="1800" b="1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25400">
            <a:solidFill>
              <a:srgbClr val="C17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IN" sz="14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Preethi Janakiraman</a:t>
            </a:r>
          </a:p>
          <a:p>
            <a:pPr>
              <a:lnSpc>
                <a:spcPct val="130000"/>
              </a:lnSpc>
            </a:pPr>
            <a:r>
              <a:rPr lang="en-IN" sz="14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20082379</a:t>
            </a:r>
          </a:p>
          <a:p>
            <a:pPr>
              <a:lnSpc>
                <a:spcPct val="130000"/>
              </a:lnSpc>
            </a:pPr>
            <a:r>
              <a:rPr lang="en-IN" sz="14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Name: Dr. Anesu Nyabadza</a:t>
            </a:r>
          </a:p>
          <a:p>
            <a:pPr>
              <a:lnSpc>
                <a:spcPct val="130000"/>
              </a:lnSpc>
            </a:pPr>
            <a:r>
              <a:rPr lang="en-IN" sz="14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25th August 2026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58C2DE-BBD3-37AB-28D5-A9B59929C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912" y="180794"/>
            <a:ext cx="1335378" cy="836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67867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reviewed research articles are structured as a relevance tree with 4 categories.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505969" y="1611351"/>
            <a:ext cx="6705240" cy="351291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6" name="Image 0" descr="ppt_assets/relevance_tre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" y="1862811"/>
            <a:ext cx="6410283" cy="3090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269" y="5111835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tree of literature review</a:t>
            </a:r>
            <a:endParaRPr lang="en-US" sz="1100" b="1" dirty="0"/>
          </a:p>
        </p:txBody>
      </p:sp>
      <p:sp>
        <p:nvSpPr>
          <p:cNvPr id="13" name="Text 10"/>
          <p:cNvSpPr/>
          <p:nvPr/>
        </p:nvSpPr>
        <p:spPr>
          <a:xfrm>
            <a:off x="868680" y="5634318"/>
            <a:ext cx="5120640" cy="473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A8AC5AB-F449-262B-3364-95B8E7DDCDD5}"/>
              </a:ext>
            </a:extLst>
          </p:cNvPr>
          <p:cNvSpPr/>
          <p:nvPr/>
        </p:nvSpPr>
        <p:spPr>
          <a:xfrm>
            <a:off x="7393579" y="1700212"/>
            <a:ext cx="4057373" cy="3211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are capable of predicting student performance, but focused on increased prediction accuracy.</a:t>
            </a:r>
          </a:p>
          <a:p>
            <a:pPr marL="171450" indent="-171450" algn="just">
              <a:lnSpc>
                <a:spcPct val="12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used as black -box systems rather than interpretability.</a:t>
            </a:r>
          </a:p>
          <a:p>
            <a:pPr marL="171450" indent="-171450" algn="just">
              <a:lnSpc>
                <a:spcPct val="12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models perform predictions where target data leakage can affect prediction.</a:t>
            </a:r>
          </a:p>
          <a:p>
            <a:pPr marL="171450" indent="-171450" algn="just">
              <a:lnSpc>
                <a:spcPct val="12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shown as numerical metrics but lack visual analytics.</a:t>
            </a:r>
            <a:endParaRPr lang="en-US" sz="1400" b="1" dirty="0">
              <a:solidFill>
                <a:srgbClr val="8A73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AD7AEE98-F358-A6EB-1209-5225648159AB}"/>
              </a:ext>
            </a:extLst>
          </p:cNvPr>
          <p:cNvSpPr/>
          <p:nvPr/>
        </p:nvSpPr>
        <p:spPr>
          <a:xfrm>
            <a:off x="7393579" y="1540192"/>
            <a:ext cx="27457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D5BD30B-A246-9BD6-AA2B-0535547C7887}"/>
              </a:ext>
            </a:extLst>
          </p:cNvPr>
          <p:cNvSpPr/>
          <p:nvPr/>
        </p:nvSpPr>
        <p:spPr>
          <a:xfrm>
            <a:off x="503225" y="5402568"/>
            <a:ext cx="11109656" cy="1318272"/>
          </a:xfrm>
          <a:prstGeom prst="roundRect">
            <a:avLst>
              <a:gd name="adj" fmla="val 5455"/>
            </a:avLst>
          </a:prstGeom>
          <a:solidFill>
            <a:srgbClr val="4A3223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3ACDB57-FF6A-2A42-E32A-CBBE1E4E5278}"/>
              </a:ext>
            </a:extLst>
          </p:cNvPr>
          <p:cNvSpPr/>
          <p:nvPr/>
        </p:nvSpPr>
        <p:spPr>
          <a:xfrm>
            <a:off x="793450" y="5558016"/>
            <a:ext cx="10074709" cy="279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STUDY FILLS</a:t>
            </a:r>
            <a:endParaRPr lang="en-US" sz="12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D7A22DC-CBC4-118D-B009-1C1ECD44D391}"/>
              </a:ext>
            </a:extLst>
          </p:cNvPr>
          <p:cNvSpPr/>
          <p:nvPr/>
        </p:nvSpPr>
        <p:spPr>
          <a:xfrm>
            <a:off x="804005" y="5887200"/>
            <a:ext cx="10441061" cy="798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prior work optimises for accuracy alone, rarely checks for target leakage, and reports results as raw metrics rather than visual, educator-facing insight. This study combines all three: a leakage-aware pipeline, SHAP explainability, and an interactive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6EFE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IN" sz="135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</a:t>
            </a:r>
            <a:r>
              <a:rPr lang="en-IN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provides the best predictive accuracy? How can interpretability be incorporated with ML models to identify the factors most influencing student performance? 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IN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visual analytical dashboards enable educators improve the understanding of prediction?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22720" y="12571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800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48006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4800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Leakage-aware regression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8006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68642" y="4798414"/>
            <a:ext cx="4336300" cy="436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students' Global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486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54864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5486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54864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4A3223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5486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CF416721-8A6C-99CC-F725-E7AE8CC03FD9}"/>
              </a:ext>
            </a:extLst>
          </p:cNvPr>
          <p:cNvSpPr/>
          <p:nvPr/>
        </p:nvSpPr>
        <p:spPr>
          <a:xfrm>
            <a:off x="6522720" y="1847089"/>
            <a:ext cx="5227320" cy="2286000"/>
          </a:xfrm>
          <a:prstGeom prst="roundRect">
            <a:avLst>
              <a:gd name="adj" fmla="val 2564"/>
            </a:avLst>
          </a:prstGeom>
          <a:solidFill>
            <a:srgbClr val="4A3223"/>
          </a:solidFill>
          <a:ln/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A4D6585-EBEB-E6DB-66D6-E301EDC3A598}"/>
              </a:ext>
            </a:extLst>
          </p:cNvPr>
          <p:cNvSpPr/>
          <p:nvPr/>
        </p:nvSpPr>
        <p:spPr>
          <a:xfrm>
            <a:off x="6688628" y="1934263"/>
            <a:ext cx="4514504" cy="31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builds a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85CDEF2C-7974-8870-2097-C22C146AEF48}"/>
              </a:ext>
            </a:extLst>
          </p:cNvPr>
          <p:cNvSpPr/>
          <p:nvPr/>
        </p:nvSpPr>
        <p:spPr>
          <a:xfrm>
            <a:off x="6797040" y="2217256"/>
            <a:ext cx="4514504" cy="1710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 — combining regression models, SHAP interpretability, and an interactive dashboard to improve interpretability and help educators identify at-risk students early.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 Repository — sourced from Colombia's ICFES education evaluations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4A32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848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4A3223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0848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4A3223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0848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stages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4A3223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0848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540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Global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academic assessment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6EFE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11  ·  High School Exam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Critical Reading · Citizen Competencies · Biology · English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069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6EFE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PRO  ·  Professional Exam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Reasoning · Critical Reading · Citizen Competencies · English · Written Communication · Formulation of Engineering Projects  →  Global Score (G_SC)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52024" y="170992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5" name="Text 3"/>
          <p:cNvSpPr/>
          <p:nvPr/>
        </p:nvSpPr>
        <p:spPr>
          <a:xfrm>
            <a:off x="1252024" y="1709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46384" y="166420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62336" y="213055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024" y="235000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9" name="Text 7"/>
          <p:cNvSpPr/>
          <p:nvPr/>
        </p:nvSpPr>
        <p:spPr>
          <a:xfrm>
            <a:off x="1252024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46384" y="230428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62336" y="277063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2024" y="299008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13" name="Text 11"/>
          <p:cNvSpPr/>
          <p:nvPr/>
        </p:nvSpPr>
        <p:spPr>
          <a:xfrm>
            <a:off x="1252024" y="2990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46384" y="294436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462336" y="341071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024" y="363016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17" name="Text 15"/>
          <p:cNvSpPr/>
          <p:nvPr/>
        </p:nvSpPr>
        <p:spPr>
          <a:xfrm>
            <a:off x="1252024" y="3630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46384" y="358444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 &amp; removal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462336" y="405079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024" y="427024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21" name="Text 19"/>
          <p:cNvSpPr/>
          <p:nvPr/>
        </p:nvSpPr>
        <p:spPr>
          <a:xfrm>
            <a:off x="1252024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46384" y="422452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(4 algorithms)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462336" y="469087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2024" y="491032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25" name="Text 23"/>
          <p:cNvSpPr/>
          <p:nvPr/>
        </p:nvSpPr>
        <p:spPr>
          <a:xfrm>
            <a:off x="1252024" y="4910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46384" y="486460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SHAP explainability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462336" y="5330952"/>
            <a:ext cx="0" cy="219456"/>
          </a:xfrm>
          <a:prstGeom prst="line">
            <a:avLst/>
          </a:prstGeom>
          <a:noFill/>
          <a:ln w="19050">
            <a:solidFill>
              <a:srgbClr val="D8C6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024" y="5550408"/>
            <a:ext cx="420624" cy="420624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29" name="Text 27"/>
          <p:cNvSpPr/>
          <p:nvPr/>
        </p:nvSpPr>
        <p:spPr>
          <a:xfrm>
            <a:off x="1252024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46384" y="550468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855912" y="210312"/>
            <a:ext cx="5084064" cy="6382512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32" name="Image 0" descr="ppt_assets/flow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9064" y="457200"/>
            <a:ext cx="4937760" cy="606247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929064" y="6556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pipeline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819669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Outlier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801368"/>
            <a:ext cx="6638544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5" name="Image 0" descr="ppt_assets/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74520"/>
            <a:ext cx="64922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0877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(a) Correlation matrix of numerical variables</a:t>
            </a:r>
          </a:p>
        </p:txBody>
      </p:sp>
      <p:sp>
        <p:nvSpPr>
          <p:cNvPr id="7" name="Shape 4"/>
          <p:cNvSpPr/>
          <p:nvPr/>
        </p:nvSpPr>
        <p:spPr>
          <a:xfrm>
            <a:off x="7242048" y="1801368"/>
            <a:ext cx="4443984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8" name="Image 1" descr="ppt_assets/lollip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0" y="1874520"/>
            <a:ext cx="4297680" cy="4297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62087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(b) Outlier percentage by IQR method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&amp; Institutional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847088"/>
            <a:ext cx="3737200" cy="409651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5980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(a) Distribution of global score by gender</a:t>
            </a:r>
            <a:endParaRPr lang="en-US" sz="12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595446" y="1847088"/>
            <a:ext cx="7136306" cy="409651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8" name="Image 1" descr="ppt_assets/top10_u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93334" y="1996302"/>
            <a:ext cx="6965266" cy="3947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79722" y="5980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(b) </a:t>
            </a:r>
            <a:r>
              <a:rPr lang="en-IN" sz="120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T</a:t>
            </a: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op 10 universities with average global score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007106-B8B1-423C-D82C-E2E2387F7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273892"/>
            <a:ext cx="3664048" cy="3203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0400" y="676656"/>
            <a:ext cx="114601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</a:rPr>
              <a:t>Distribution of academic performance by Stratum and resources</a:t>
            </a:r>
            <a:endParaRPr lang="en-US" sz="3000" b="1" dirty="0">
              <a:solidFill>
                <a:srgbClr val="4A3223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847088"/>
            <a:ext cx="5541264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5" name="Image 0" descr="ppt_assets/stratum_bo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53949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0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IN" sz="1100" dirty="0">
                <a:solidFill>
                  <a:schemeClr val="accent2">
                    <a:lumMod val="50000"/>
                  </a:schemeClr>
                </a:solidFill>
              </a:rPr>
              <a:t>(a) Distribution of academic performance by Stratum</a:t>
            </a:r>
            <a:endParaRPr lang="en-US" sz="11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190488" y="1847088"/>
            <a:ext cx="5541264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63640" y="5980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(b) </a:t>
            </a:r>
            <a:r>
              <a:rPr lang="en-IN" sz="1100" dirty="0">
                <a:solidFill>
                  <a:schemeClr val="accent2">
                    <a:lumMod val="50000"/>
                  </a:schemeClr>
                </a:solidFill>
              </a:rPr>
              <a:t>Global score distribution by household resources</a:t>
            </a:r>
            <a:endParaRPr lang="en-US" sz="11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92CE5E-6211-58A8-E2E1-859CF375C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08" y="1920240"/>
            <a:ext cx="5372672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42C66-3315-A284-FE6F-5834E174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35D7E1-7A7E-EF35-E873-54247227C700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6B6696-C372-4C4E-E1C4-5CDD3DC93679}"/>
              </a:ext>
            </a:extLst>
          </p:cNvPr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Influence on Performance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524F17-183C-E689-263A-09E265AF83C4}"/>
              </a:ext>
            </a:extLst>
          </p:cNvPr>
          <p:cNvSpPr/>
          <p:nvPr/>
        </p:nvSpPr>
        <p:spPr>
          <a:xfrm>
            <a:off x="475488" y="1847088"/>
            <a:ext cx="5541264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3A8B26-AA77-F070-A2D7-228ECCA9BDD2}"/>
              </a:ext>
            </a:extLst>
          </p:cNvPr>
          <p:cNvSpPr/>
          <p:nvPr/>
        </p:nvSpPr>
        <p:spPr>
          <a:xfrm>
            <a:off x="548640" y="5980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IN" sz="1100" dirty="0">
                <a:solidFill>
                  <a:schemeClr val="accent2">
                    <a:lumMod val="50000"/>
                  </a:schemeClr>
                </a:solidFill>
              </a:rPr>
              <a:t>(a) Socioeconomic impact on academic result</a:t>
            </a:r>
            <a:endParaRPr lang="en-US" sz="11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28C9C0D-0C53-5E9F-7127-1802E0E21F51}"/>
              </a:ext>
            </a:extLst>
          </p:cNvPr>
          <p:cNvSpPr/>
          <p:nvPr/>
        </p:nvSpPr>
        <p:spPr>
          <a:xfrm>
            <a:off x="6190488" y="1847088"/>
            <a:ext cx="5541264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74FA66E-135B-16F1-8265-CBF12E1CFCD4}"/>
              </a:ext>
            </a:extLst>
          </p:cNvPr>
          <p:cNvSpPr/>
          <p:nvPr/>
        </p:nvSpPr>
        <p:spPr>
          <a:xfrm>
            <a:off x="6263640" y="5980176"/>
            <a:ext cx="5394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(b) </a:t>
            </a:r>
            <a:r>
              <a:rPr lang="en-IN" sz="1100" dirty="0">
                <a:solidFill>
                  <a:schemeClr val="accent2">
                    <a:lumMod val="50000"/>
                  </a:schemeClr>
                </a:solidFill>
              </a:rPr>
              <a:t>Distribution of academic performance among SISBEN levels.</a:t>
            </a:r>
            <a:endParaRPr lang="en-US" sz="1100" i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sz="11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D0B9349-B7D5-0E85-6520-0C43D706CEE5}"/>
              </a:ext>
            </a:extLst>
          </p:cNvPr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F4DD5F-E8AE-BB65-B89E-2B4F485F4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27" y="1920240"/>
            <a:ext cx="4520466" cy="38923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FF6EAF-2D2B-8FAE-A92B-774DA67DA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28" y="2026471"/>
            <a:ext cx="5176183" cy="395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5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</a:rPr>
              <a:t>COMPARISON OF MODEL PERFORMANCE</a:t>
            </a:r>
            <a:endParaRPr lang="en-US" sz="3000" b="1" dirty="0">
              <a:solidFill>
                <a:srgbClr val="4A3223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= 80:20</a:t>
            </a:r>
          </a:p>
          <a:p>
            <a:r>
              <a:rPr lang="en-US" sz="14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 = 42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265176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(Train)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(Train)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(Train)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2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3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3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3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3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3413760" cy="118872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74920"/>
            <a:ext cx="313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</a:t>
            </a:r>
            <a:r>
              <a:rPr lang="en-US" sz="13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best — R² gap of just 0.01 between train and test. 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C5B0C8A2-603F-2F25-E3A5-9A9465579C74}"/>
              </a:ext>
            </a:extLst>
          </p:cNvPr>
          <p:cNvSpPr/>
          <p:nvPr/>
        </p:nvSpPr>
        <p:spPr>
          <a:xfrm>
            <a:off x="4389120" y="5074920"/>
            <a:ext cx="3413760" cy="118872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FC20A2E-86D4-0249-BFB1-6DC8E1C67E5E}"/>
              </a:ext>
            </a:extLst>
          </p:cNvPr>
          <p:cNvSpPr/>
          <p:nvPr/>
        </p:nvSpPr>
        <p:spPr>
          <a:xfrm>
            <a:off x="4500487" y="5074920"/>
            <a:ext cx="318047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30000"/>
              </a:lnSpc>
            </a:pPr>
            <a:r>
              <a:rPr lang="en-US" sz="1200" b="1" dirty="0" err="1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0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closest competitor (test R² = 0.61, test MAE = 10.90), fitting the training data more tightly but generalizing almost as well.</a:t>
            </a:r>
            <a:endParaRPr lang="en-US" sz="13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4C9D223D-9CBE-DEBA-79FF-34E6169C70A5}"/>
              </a:ext>
            </a:extLst>
          </p:cNvPr>
          <p:cNvSpPr/>
          <p:nvPr/>
        </p:nvSpPr>
        <p:spPr>
          <a:xfrm>
            <a:off x="8255393" y="5079492"/>
            <a:ext cx="3413760" cy="118872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/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85B8217E-696A-BFEF-162B-17209B5BCE1B}"/>
              </a:ext>
            </a:extLst>
          </p:cNvPr>
          <p:cNvSpPr/>
          <p:nvPr/>
        </p:nvSpPr>
        <p:spPr>
          <a:xfrm>
            <a:off x="8366760" y="5079492"/>
            <a:ext cx="330239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just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did not yield significant performance and is against the assumption of complex model outperforms linear baseline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Performance: Actual vs. Predicted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892808"/>
            <a:ext cx="28895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5" name="Image 0" descr="ppt_assets/avp_l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65960"/>
            <a:ext cx="274320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best fit (R² = 0.61)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55848" y="1892808"/>
            <a:ext cx="28895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8" name="Image 1" descr="ppt_assets/avp_d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9000" y="1965960"/>
            <a:ext cx="2743200" cy="2331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36208" y="1892808"/>
            <a:ext cx="28895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11" name="Image 2" descr="ppt_assets/avp_r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1965960"/>
            <a:ext cx="2743200" cy="23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9116568" y="1892808"/>
            <a:ext cx="28895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14" name="Image 3" descr="ppt_assets/avp_xg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89720" y="1965960"/>
            <a:ext cx="2743200" cy="2331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8972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Test MAE = 10.90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across all four models ranged </a:t>
            </a:r>
            <a:r>
              <a:rPr lang="en-US" sz="1400" b="1" dirty="0">
                <a:solidFill>
                  <a:srgbClr val="4A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0.59–0.61</a:t>
            </a:r>
            <a:r>
              <a:rPr lang="en-US" sz="14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moderate but consistent fit. Linear Regression edged out XGBoost, suggesting the engineered features (S11_AVG, parental &amp; resource indices) already capture most of the relationship linearly.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SHAP Analysis - </a:t>
            </a:r>
            <a:r>
              <a:rPr lang="en-US" sz="3000" b="1" dirty="0" err="1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847088"/>
            <a:ext cx="5541264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5" name="Image 0" descr="ppt_assets/feat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53949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716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Feature importance ranking</a:t>
            </a:r>
            <a:endParaRPr lang="en-US" sz="11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190488" y="1847088"/>
            <a:ext cx="5541264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E3D6BF"/>
            </a:solidFill>
            <a:prstDash val="solid"/>
          </a:ln>
          <a:effectLst>
            <a:outerShdw blurRad="101600" dist="38100" dir="5400000" algn="bl" rotWithShape="0">
              <a:srgbClr val="B7A88C">
                <a:alpha val="35000"/>
              </a:srgbClr>
            </a:outerShdw>
          </a:effectLst>
        </p:spPr>
      </p:sp>
      <p:pic>
        <p:nvPicPr>
          <p:cNvPr id="8" name="Image 1" descr="ppt_assets/shap_beeswa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920240"/>
            <a:ext cx="539496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60716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SHAP summary plot</a:t>
            </a:r>
            <a:endParaRPr lang="en-US" sz="11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6EFE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academic performance dominates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S11_AVG and its subject scores are, by a wide margin, the strongest predictor of the Global Score across both feature importance and SHAP.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6EFE3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76272"/>
            <a:ext cx="457200" cy="457200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Simplicity held its 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matched or beat ensemble methods — model complexity wasn't a substitute for well-engineered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6EFE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context matters, moderately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education, revenue, and resources showed a consistent but secondary association with outcomes.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6EFE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416552"/>
            <a:ext cx="457200" cy="457200"/>
          </a:xfrm>
          <a:prstGeom prst="ellipse">
            <a:avLst/>
          </a:prstGeom>
          <a:solidFill>
            <a:srgbClr val="4A322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3434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Association, not causation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0749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what the model relies on — not what would causally change a student's score if altered.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40030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00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Single-country, single-cohort dataset — findings may not generalise beyond Colombian engineering students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240030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2400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data only — can't capture how a student's trajectory changes over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81762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R² (0.59–0.61) — ~40% of variance remains unexplained by available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4808" y="381762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474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train–test split, manual hyperparameters — no k-fold CV or systematic tuning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23494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4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92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usability untested with real educators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6EF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808" y="523494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234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892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association, not proven causal effect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40030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00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behavioural &amp; engagement data (attendance, LMS activity)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240030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2400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and systematic hyperparameter tuning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81762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other institutions, countries, cohorts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4808" y="381762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474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auditing across gender, stratum &amp; revenue subgroups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23494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4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92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methods (matching, instrumental variables)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4A322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808" y="5234940"/>
            <a:ext cx="365760" cy="365760"/>
          </a:xfrm>
          <a:prstGeom prst="ellipse">
            <a:avLst/>
          </a:prstGeom>
          <a:solidFill>
            <a:srgbClr val="C17A34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234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892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usability testing with real educators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3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348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Accurate, interpretable, and actionable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Leakage-aware regression pipeline compared four models honestly — no inflated accuracy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feature importance agree prior academic achievement is the dominant driver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interactive dashboard turns model output into insight educators can use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the Research Questions Answered?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6EFE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7C8B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— Can interpretability be incorporated with ML models to identify the factors most influencing student performance, and which model predicts best?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9260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SHAP and feature importance independently agree that prior academic achievement (S11_AVG) dominates. Linear Regression gave the best, most stable fit (R² = 0.61, R² gap = 0.01), with XGBoost close behind.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6EFE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7C8B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427939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3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— How do visual analytics dashboards help educators improve their understanding of predictions?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5074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3-page interactive dashboard (Student Landscape, Academic Journey, ML Prediction &amp; Explainability) translates model output and SHAP explanations into a form educators can read without interpreting raw coefficients.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questions are answered with evidence — </a:t>
            </a:r>
            <a:r>
              <a:rPr lang="en-US" sz="12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caveat that SHAP shows association, not proven causation.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A3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6348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1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C17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Preethi Janakiraman  ·  MSc Data Analytics  ·  Dublin Business School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1202</Words>
  <Application>Microsoft Office PowerPoint</Application>
  <PresentationFormat>Widescreen</PresentationFormat>
  <Paragraphs>239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Britannic 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Prasanna M</cp:lastModifiedBy>
  <cp:revision>7</cp:revision>
  <dcterms:created xsi:type="dcterms:W3CDTF">2026-08-23T23:18:13Z</dcterms:created>
  <dcterms:modified xsi:type="dcterms:W3CDTF">2026-08-26T16:17:26Z</dcterms:modified>
</cp:coreProperties>
</file>